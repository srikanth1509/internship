
<file path=[Content_Types].xml><?xml version="1.0" encoding="utf-8"?>
<Types xmlns="http://schemas.openxmlformats.org/package/2006/content-types">
  <Default ContentType="image/jpeg" Extension="jpg"/>
  <Default ContentType="image/x-wmf" Extension="wmf"/>
  <Default ContentType="application/xml" Extension="xml"/>
  <Default ContentType="application/vnd.openxmlformats-package.relationships+xml" Extension="rels"/>
  <Override ContentType="application/vnd.openxmlformats-officedocument.presentationml.tableStyles+xml" PartName="/ppt/tableStyles1.xml"/>
  <Override ContentType="application/vnd.openxmlformats-officedocument.drawingml.diagramData+xml" PartName="/ppt/diagrams/data1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ms-office.drawingml.diagramDrawing+xml" PartName="/ppt/diagrams/drawing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drawingml.diagramLayout+xml" PartName="/ppt/diagrams/layout1.xml"/>
  <Override ContentType="application/vnd.openxmlformats-officedocument.drawingml.diagramStyle+xml" PartName="/ppt/diagrams/quickStyle1.xml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1.xml"/>
  <Override ContentType="application/vnd.openxmlformats-officedocument.drawingml.diagramColors+xml" PartName="/ppt/diagrams/color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12192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2E65921F-BAAD-4050-A625-E25B924060E2}">
  <a:tblStyle styleId="{2E65921F-BAAD-4050-A625-E25B924060E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cmpd="sng" w="12700">
              <a:solidFill>
                <a:schemeClr val="lt1"/>
              </a:solidFill>
            </a:ln>
          </a:left>
          <a:right>
            <a:ln cmpd="sng" w="12700">
              <a:solidFill>
                <a:schemeClr val="lt1"/>
              </a:solidFill>
            </a:ln>
          </a:right>
          <a:top>
            <a:ln cmpd="sng" w="12700">
              <a:solidFill>
                <a:schemeClr val="lt1"/>
              </a:solidFill>
            </a:ln>
          </a:top>
          <a:bottom>
            <a:ln cmpd="sng" w="12700">
              <a:solidFill>
                <a:schemeClr val="lt1"/>
              </a:solidFill>
            </a:ln>
          </a:bottom>
          <a:insideH>
            <a:ln cmpd="sng" w="12700">
              <a:solidFill>
                <a:schemeClr val="lt1"/>
              </a:solidFill>
            </a:ln>
          </a:insideH>
          <a:insideV>
            <a:ln cmpd="sng"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cmpd="sng"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cmpd="sng"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tableStyles" Target="tableStyle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000" b="1" dirty="0">
              <a:latin typeface="Times New Roman" panose="02020603050405020304" pitchFamily="18" charset="0"/>
              <a:cs typeface="Times New Roman" panose="02020603050405020304" pitchFamily="18" charset="0"/>
            </a:rPr>
            <a:t>Define the Water Quality Prediction Management System concept.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Collect water quality dataset.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/>
      <dgm:spPr/>
      <dgm:t>
        <a:bodyPr/>
        <a:lstStyle/>
        <a:p>
          <a:pPr algn="l">
            <a:buNone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Apply Machine Learning algorithms.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098A2FD0-510B-4131-98A3-42963A819870}">
      <dgm:prSet/>
      <dgm:spPr/>
      <dgm:t>
        <a:bodyPr/>
        <a:lstStyle/>
        <a:p>
          <a:pPr algn="l">
            <a:buNone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Test the prediction model with different datasets.</a:t>
          </a:r>
          <a:endParaRPr lang="en-IN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E6AFA10-FF01-407F-B89B-055A253BEE29}" type="parTrans" cxnId="{3F0A9F8D-3DB2-4D2C-ACC1-78BB18DF0B57}">
      <dgm:prSet/>
      <dgm:spPr/>
      <dgm:t>
        <a:bodyPr/>
        <a:lstStyle/>
        <a:p>
          <a:endParaRPr lang="en-IN"/>
        </a:p>
      </dgm:t>
    </dgm:pt>
    <dgm:pt modelId="{D9843168-EF5E-4D40-83AC-33257CD42E13}" type="sibTrans" cxnId="{3F0A9F8D-3DB2-4D2C-ACC1-78BB18DF0B57}">
      <dgm:prSet/>
      <dgm:spPr/>
      <dgm:t>
        <a:bodyPr/>
        <a:lstStyle/>
        <a:p>
          <a:endParaRPr lang="en-IN"/>
        </a:p>
      </dgm:t>
    </dgm:pt>
    <dgm:pt modelId="{EF703232-DF22-4058-B210-8EB04E0EA4AE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Finalize Water Quality Prediction Management System.</a:t>
          </a:r>
          <a:endParaRPr lang="en-IN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EC5FC1F-CA11-4FBC-A5B0-42CD274F7FD8}" type="parTrans" cxnId="{88E35A50-BD63-414A-9580-D5D91432AF06}">
      <dgm:prSet/>
      <dgm:spPr/>
      <dgm:t>
        <a:bodyPr/>
        <a:lstStyle/>
        <a:p>
          <a:endParaRPr lang="en-IN"/>
        </a:p>
      </dgm:t>
    </dgm:pt>
    <dgm:pt modelId="{FBC3398E-8BFD-43D5-A1D4-3A5B6DDBF46D}" type="sibTrans" cxnId="{88E35A50-BD63-414A-9580-D5D91432AF06}">
      <dgm:prSet/>
      <dgm:spPr/>
      <dgm:t>
        <a:bodyPr/>
        <a:lstStyle/>
        <a:p>
          <a:endParaRPr lang="en-IN"/>
        </a:p>
      </dgm:t>
    </dgm:pt>
    <dgm:pt modelId="{C3CDC600-31C0-4A3B-BEBF-636F2B969CA9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000" b="1" dirty="0">
              <a:latin typeface="Times New Roman" panose="02020603050405020304" pitchFamily="18" charset="0"/>
              <a:cs typeface="Times New Roman" panose="02020603050405020304" pitchFamily="18" charset="0"/>
            </a:rPr>
            <a:t>Study research papers related to water quality prediction using ML.</a:t>
          </a:r>
        </a:p>
      </dgm:t>
    </dgm:pt>
    <dgm:pt modelId="{8ABCF0DC-65A7-4C1D-B6F3-1DA40E44BF0F}" type="parTrans" cxnId="{ABC7D3AD-5070-487E-A387-70E43E7755AA}">
      <dgm:prSet/>
      <dgm:spPr/>
      <dgm:t>
        <a:bodyPr/>
        <a:lstStyle/>
        <a:p>
          <a:endParaRPr lang="en-IN"/>
        </a:p>
      </dgm:t>
    </dgm:pt>
    <dgm:pt modelId="{90E809E0-7802-4D04-9B95-DA859B83D303}" type="sibTrans" cxnId="{ABC7D3AD-5070-487E-A387-70E43E7755AA}">
      <dgm:prSet/>
      <dgm:spPr/>
      <dgm:t>
        <a:bodyPr/>
        <a:lstStyle/>
        <a:p>
          <a:endParaRPr lang="en-IN"/>
        </a:p>
      </dgm:t>
    </dgm:pt>
    <dgm:pt modelId="{8CFAADCD-CDA8-4564-A349-F3B08010D0F0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000" b="1" dirty="0">
              <a:latin typeface="Times New Roman" panose="02020603050405020304" pitchFamily="18" charset="0"/>
              <a:cs typeface="Times New Roman" panose="02020603050405020304" pitchFamily="18" charset="0"/>
            </a:rPr>
            <a:t>Identify parameters like pH, turbidity, temperature, conductivity.</a:t>
          </a:r>
        </a:p>
      </dgm:t>
    </dgm:pt>
    <dgm:pt modelId="{7ED90F3D-3BE1-490C-8227-D6588F2F4EE6}" type="parTrans" cxnId="{4164439A-5A43-4234-9DF9-B097BA0DF42C}">
      <dgm:prSet/>
      <dgm:spPr/>
      <dgm:t>
        <a:bodyPr/>
        <a:lstStyle/>
        <a:p>
          <a:endParaRPr lang="en-IN"/>
        </a:p>
      </dgm:t>
    </dgm:pt>
    <dgm:pt modelId="{2FB21C5A-0B08-4357-93BC-520E654776F8}" type="sibTrans" cxnId="{4164439A-5A43-4234-9DF9-B097BA0DF42C}">
      <dgm:prSet/>
      <dgm:spPr/>
      <dgm:t>
        <a:bodyPr/>
        <a:lstStyle/>
        <a:p>
          <a:endParaRPr lang="en-IN"/>
        </a:p>
      </dgm:t>
    </dgm:pt>
    <dgm:pt modelId="{121973F8-CA24-4F20-9BBF-1FBE6750B7C5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000" b="1" dirty="0">
              <a:latin typeface="Times New Roman" panose="02020603050405020304" pitchFamily="18" charset="0"/>
              <a:cs typeface="Times New Roman" panose="02020603050405020304" pitchFamily="18" charset="0"/>
            </a:rPr>
            <a:t>Define objectives and scope of the project.</a:t>
          </a:r>
        </a:p>
      </dgm:t>
    </dgm:pt>
    <dgm:pt modelId="{87F6F051-026A-44FC-B2C5-5CCBFA6F7156}" type="parTrans" cxnId="{10B1E4AA-B61B-4A28-8A78-CF398B132BDE}">
      <dgm:prSet/>
      <dgm:spPr/>
      <dgm:t>
        <a:bodyPr/>
        <a:lstStyle/>
        <a:p>
          <a:endParaRPr lang="en-IN"/>
        </a:p>
      </dgm:t>
    </dgm:pt>
    <dgm:pt modelId="{B88A18B9-5446-4770-B14C-8BB53B1F5FDC}" type="sibTrans" cxnId="{10B1E4AA-B61B-4A28-8A78-CF398B132BDE}">
      <dgm:prSet/>
      <dgm:spPr/>
      <dgm:t>
        <a:bodyPr/>
        <a:lstStyle/>
        <a:p>
          <a:endParaRPr lang="en-IN"/>
        </a:p>
      </dgm:t>
    </dgm:pt>
    <dgm:pt modelId="{448E8D00-13E2-4D4C-9160-363D49213308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Perform data preprocessing and analysis.</a:t>
          </a:r>
        </a:p>
      </dgm:t>
    </dgm:pt>
    <dgm:pt modelId="{557CABEF-CE32-4632-BBDB-FE5E8012E307}" type="parTrans" cxnId="{A65ACFB6-0A29-45A0-AB0C-DAFFEA15EFC0}">
      <dgm:prSet/>
      <dgm:spPr/>
      <dgm:t>
        <a:bodyPr/>
        <a:lstStyle/>
        <a:p>
          <a:endParaRPr lang="en-IN"/>
        </a:p>
      </dgm:t>
    </dgm:pt>
    <dgm:pt modelId="{467E8194-8850-4A14-AB52-534985EEAB40}" type="sibTrans" cxnId="{A65ACFB6-0A29-45A0-AB0C-DAFFEA15EFC0}">
      <dgm:prSet/>
      <dgm:spPr/>
      <dgm:t>
        <a:bodyPr/>
        <a:lstStyle/>
        <a:p>
          <a:endParaRPr lang="en-IN"/>
        </a:p>
      </dgm:t>
    </dgm:pt>
    <dgm:pt modelId="{E57E669B-A046-4271-9CE6-F4221D58ACE7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Design system architecture and modules.</a:t>
          </a:r>
        </a:p>
      </dgm:t>
    </dgm:pt>
    <dgm:pt modelId="{215EF06D-D116-439C-B2BF-04ECFA62D7CB}" type="parTrans" cxnId="{4DBD655B-F047-48D7-8506-481D7DD9258E}">
      <dgm:prSet/>
      <dgm:spPr/>
      <dgm:t>
        <a:bodyPr/>
        <a:lstStyle/>
        <a:p>
          <a:endParaRPr lang="en-IN"/>
        </a:p>
      </dgm:t>
    </dgm:pt>
    <dgm:pt modelId="{D9250B28-1F0B-4534-91D8-61C38B89BE1C}" type="sibTrans" cxnId="{4DBD655B-F047-48D7-8506-481D7DD9258E}">
      <dgm:prSet/>
      <dgm:spPr/>
      <dgm:t>
        <a:bodyPr/>
        <a:lstStyle/>
        <a:p>
          <a:endParaRPr lang="en-IN"/>
        </a:p>
      </dgm:t>
    </dgm:pt>
    <dgm:pt modelId="{12128132-6A3B-4BE4-9E73-25849B29F6E3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Create DFD, Use Case Diagram, and System Workflow.</a:t>
          </a:r>
        </a:p>
      </dgm:t>
    </dgm:pt>
    <dgm:pt modelId="{51D394C2-B640-4C3C-BF5B-81BEBD53FCD2}" type="parTrans" cxnId="{3493CEC8-C691-43F3-8115-53AB272F0ABF}">
      <dgm:prSet/>
      <dgm:spPr/>
      <dgm:t>
        <a:bodyPr/>
        <a:lstStyle/>
        <a:p>
          <a:endParaRPr lang="en-IN"/>
        </a:p>
      </dgm:t>
    </dgm:pt>
    <dgm:pt modelId="{8E78E8D8-F829-45A6-9ED3-582F7F548EF9}" type="sibTrans" cxnId="{3493CEC8-C691-43F3-8115-53AB272F0ABF}">
      <dgm:prSet/>
      <dgm:spPr/>
      <dgm:t>
        <a:bodyPr/>
        <a:lstStyle/>
        <a:p>
          <a:endParaRPr lang="en-IN"/>
        </a:p>
      </dgm:t>
    </dgm:pt>
    <dgm:pt modelId="{0FFBF5DA-6B24-4CE9-9707-5F8F75BFC572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Train models using Python and Scikit-learn.</a:t>
          </a:r>
        </a:p>
      </dgm:t>
    </dgm:pt>
    <dgm:pt modelId="{7E6C6E3A-914E-4651-A9D7-38D079309CAC}" type="parTrans" cxnId="{482BFB58-BFA8-4B5C-844E-4A341C79503A}">
      <dgm:prSet/>
      <dgm:spPr/>
      <dgm:t>
        <a:bodyPr/>
        <a:lstStyle/>
        <a:p>
          <a:endParaRPr lang="en-IN"/>
        </a:p>
      </dgm:t>
    </dgm:pt>
    <dgm:pt modelId="{BB7FE876-DB24-4900-8E3D-2C77E1903DCA}" type="sibTrans" cxnId="{482BFB58-BFA8-4B5C-844E-4A341C79503A}">
      <dgm:prSet/>
      <dgm:spPr/>
      <dgm:t>
        <a:bodyPr/>
        <a:lstStyle/>
        <a:p>
          <a:endParaRPr lang="en-IN"/>
        </a:p>
      </dgm:t>
    </dgm:pt>
    <dgm:pt modelId="{03691115-5A9B-4FED-AC37-D6A830625B4B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Implement data preprocessing and feature selection.</a:t>
          </a:r>
        </a:p>
      </dgm:t>
    </dgm:pt>
    <dgm:pt modelId="{18C5B63B-4256-4082-8DB2-B2A5A8258CE6}" type="parTrans" cxnId="{0C2AB456-4AE4-4969-AAD8-26AF85F92F0F}">
      <dgm:prSet/>
      <dgm:spPr/>
      <dgm:t>
        <a:bodyPr/>
        <a:lstStyle/>
        <a:p>
          <a:endParaRPr lang="en-IN"/>
        </a:p>
      </dgm:t>
    </dgm:pt>
    <dgm:pt modelId="{87F221EB-475D-4053-B642-53411CB39900}" type="sibTrans" cxnId="{0C2AB456-4AE4-4969-AAD8-26AF85F92F0F}">
      <dgm:prSet/>
      <dgm:spPr/>
      <dgm:t>
        <a:bodyPr/>
        <a:lstStyle/>
        <a:p>
          <a:endParaRPr lang="en-IN"/>
        </a:p>
      </dgm:t>
    </dgm:pt>
    <dgm:pt modelId="{727B6673-A90F-4980-8680-505BC91DDFD5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Generate initial prediction results and accuracy analysis.</a:t>
          </a:r>
        </a:p>
      </dgm:t>
    </dgm:pt>
    <dgm:pt modelId="{7708DEA5-8290-4189-9EC0-C31176E597B0}" type="parTrans" cxnId="{348AD48D-A44E-4F47-BAFC-B4BE42D78642}">
      <dgm:prSet/>
      <dgm:spPr/>
      <dgm:t>
        <a:bodyPr/>
        <a:lstStyle/>
        <a:p>
          <a:endParaRPr lang="en-IN"/>
        </a:p>
      </dgm:t>
    </dgm:pt>
    <dgm:pt modelId="{00CE8FB4-D67E-43F7-9682-C75829E234D8}" type="sibTrans" cxnId="{348AD48D-A44E-4F47-BAFC-B4BE42D78642}">
      <dgm:prSet/>
      <dgm:spPr/>
      <dgm:t>
        <a:bodyPr/>
        <a:lstStyle/>
        <a:p>
          <a:endParaRPr lang="en-IN"/>
        </a:p>
      </dgm:t>
    </dgm:pt>
    <dgm:pt modelId="{376353E3-0B9E-42F4-BBC0-4A1AEBDF6475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Evaluate performance using accuracy, precision, recall.</a:t>
          </a:r>
        </a:p>
      </dgm:t>
    </dgm:pt>
    <dgm:pt modelId="{1BA87571-2214-4D28-8E24-15CBAA405577}" type="parTrans" cxnId="{DC128812-66B9-4566-B1E9-CA873FB2C416}">
      <dgm:prSet/>
      <dgm:spPr/>
      <dgm:t>
        <a:bodyPr/>
        <a:lstStyle/>
        <a:p>
          <a:endParaRPr lang="en-IN"/>
        </a:p>
      </dgm:t>
    </dgm:pt>
    <dgm:pt modelId="{8145E3F6-87BA-4BF7-90C0-EAA3EF351B66}" type="sibTrans" cxnId="{DC128812-66B9-4566-B1E9-CA873FB2C416}">
      <dgm:prSet/>
      <dgm:spPr/>
      <dgm:t>
        <a:bodyPr/>
        <a:lstStyle/>
        <a:p>
          <a:endParaRPr lang="en-IN"/>
        </a:p>
      </dgm:t>
    </dgm:pt>
    <dgm:pt modelId="{76A195F0-E9F4-45E0-8E93-0CE2DF4BB397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Improve model performance through parameter tuning.</a:t>
          </a:r>
        </a:p>
      </dgm:t>
    </dgm:pt>
    <dgm:pt modelId="{EC289755-2845-470A-8241-13EC14BDC01F}" type="parTrans" cxnId="{316C16EE-8141-4B2D-8F98-2FAE88F9EC05}">
      <dgm:prSet/>
      <dgm:spPr/>
      <dgm:t>
        <a:bodyPr/>
        <a:lstStyle/>
        <a:p>
          <a:endParaRPr lang="en-IN"/>
        </a:p>
      </dgm:t>
    </dgm:pt>
    <dgm:pt modelId="{1A152D70-4717-47C9-B50B-F816351C3C22}" type="sibTrans" cxnId="{316C16EE-8141-4B2D-8F98-2FAE88F9EC05}">
      <dgm:prSet/>
      <dgm:spPr/>
      <dgm:t>
        <a:bodyPr/>
        <a:lstStyle/>
        <a:p>
          <a:endParaRPr lang="en-IN"/>
        </a:p>
      </dgm:t>
    </dgm:pt>
    <dgm:pt modelId="{2C33B9D5-394D-4C1D-9616-7E7129D34827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Prepare system screenshots and result analysis.</a:t>
          </a:r>
        </a:p>
      </dgm:t>
    </dgm:pt>
    <dgm:pt modelId="{B94AA8A1-1F33-4C18-9BC0-6BA5C8A37ACA}" type="parTrans" cxnId="{83D786BC-339E-4CA5-839E-D2EC91E6FC61}">
      <dgm:prSet/>
      <dgm:spPr/>
      <dgm:t>
        <a:bodyPr/>
        <a:lstStyle/>
        <a:p>
          <a:endParaRPr lang="en-IN"/>
        </a:p>
      </dgm:t>
    </dgm:pt>
    <dgm:pt modelId="{74FA82F1-FF6E-474E-9B37-A39E9BEFE9AF}" type="sibTrans" cxnId="{83D786BC-339E-4CA5-839E-D2EC91E6FC61}">
      <dgm:prSet/>
      <dgm:spPr/>
      <dgm:t>
        <a:bodyPr/>
        <a:lstStyle/>
        <a:p>
          <a:endParaRPr lang="en-IN"/>
        </a:p>
      </dgm:t>
    </dgm:pt>
    <dgm:pt modelId="{26EB88E4-8C85-455A-8D78-23A24D6831AD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Demonstrate prediction results and system working.</a:t>
          </a:r>
        </a:p>
      </dgm:t>
    </dgm:pt>
    <dgm:pt modelId="{6D2F8805-4462-44BB-9684-F65749CCF680}" type="parTrans" cxnId="{3157E05E-1F92-48EC-8E73-BDC71DFD7304}">
      <dgm:prSet/>
      <dgm:spPr/>
      <dgm:t>
        <a:bodyPr/>
        <a:lstStyle/>
        <a:p>
          <a:endParaRPr lang="en-IN"/>
        </a:p>
      </dgm:t>
    </dgm:pt>
    <dgm:pt modelId="{CDFAE4C0-D95F-4B59-8572-86F6397837CC}" type="sibTrans" cxnId="{3157E05E-1F92-48EC-8E73-BDC71DFD7304}">
      <dgm:prSet/>
      <dgm:spPr/>
      <dgm:t>
        <a:bodyPr/>
        <a:lstStyle/>
        <a:p>
          <a:endParaRPr lang="en-IN"/>
        </a:p>
      </dgm:t>
    </dgm:pt>
    <dgm:pt modelId="{260EC9D5-4705-42BE-8BF1-3B2F99DBF04D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Prepare final report and presentation.</a:t>
          </a:r>
        </a:p>
      </dgm:t>
    </dgm:pt>
    <dgm:pt modelId="{8C64F3DF-BDE6-413A-8B58-F92E010AAC52}" type="parTrans" cxnId="{57D47B8C-C849-4BD4-B70E-53C3E773467B}">
      <dgm:prSet/>
      <dgm:spPr/>
      <dgm:t>
        <a:bodyPr/>
        <a:lstStyle/>
        <a:p>
          <a:endParaRPr lang="en-IN"/>
        </a:p>
      </dgm:t>
    </dgm:pt>
    <dgm:pt modelId="{B32FB074-D956-4C7D-BEAF-7F4DC90B464C}" type="sibTrans" cxnId="{57D47B8C-C849-4BD4-B70E-53C3E773467B}">
      <dgm:prSet/>
      <dgm:spPr/>
      <dgm:t>
        <a:bodyPr/>
        <a:lstStyle/>
        <a:p>
          <a:endParaRPr lang="en-IN"/>
        </a:p>
      </dgm:t>
    </dgm:pt>
    <dgm:pt modelId="{43C9AE50-AE6E-4888-84C8-3F3ED099C038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Submit project and upload code to GitHub.</a:t>
          </a:r>
        </a:p>
      </dgm:t>
    </dgm:pt>
    <dgm:pt modelId="{5D2F56EE-0276-4C85-AC90-717902E4A6B8}" type="parTrans" cxnId="{F231DE84-E32E-4BC6-B4C2-D006E80C9B69}">
      <dgm:prSet/>
      <dgm:spPr/>
      <dgm:t>
        <a:bodyPr/>
        <a:lstStyle/>
        <a:p>
          <a:endParaRPr lang="en-IN"/>
        </a:p>
      </dgm:t>
    </dgm:pt>
    <dgm:pt modelId="{8B90C846-30FF-4368-A128-D48E2ADBA6DB}" type="sibTrans" cxnId="{F231DE84-E32E-4BC6-B4C2-D006E80C9B69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DC128812-66B9-4566-B1E9-CA873FB2C416}" srcId="{5E92505A-51E0-4F78-B3C5-704ACF8710DE}" destId="{376353E3-0B9E-42F4-BBC0-4A1AEBDF6475}" srcOrd="1" destOrd="0" parTransId="{1BA87571-2214-4D28-8E24-15CBAA405577}" sibTransId="{8145E3F6-87BA-4BF7-90C0-EAA3EF351B66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27D07617-F6E1-4BE9-9B80-5CEC3D927C44}" type="presOf" srcId="{0FFBF5DA-6B24-4CE9-9707-5F8F75BFC572}" destId="{2532504F-5FE1-4C97-B485-F05E8885EACC}" srcOrd="0" destOrd="1" presId="urn:microsoft.com/office/officeart/2011/layout/InterconnectedBlockProcess"/>
    <dgm:cxn modelId="{E99A6518-5856-4925-90BF-23EE7CCFF18A}" type="presOf" srcId="{EF703232-DF22-4058-B210-8EB04E0EA4AE}" destId="{928B615F-0F8D-4140-A638-0FBB8F5BF1E9}" srcOrd="1" destOrd="0" presId="urn:microsoft.com/office/officeart/2011/layout/InterconnectedBlockProcess"/>
    <dgm:cxn modelId="{D14DDA1C-4A75-42B8-ABFA-A8CB12596F24}" type="presOf" srcId="{2C33B9D5-394D-4C1D-9616-7E7129D34827}" destId="{98225A61-A0EC-450A-BED8-EF2E47E8FD18}" srcOrd="1" destOrd="3" presId="urn:microsoft.com/office/officeart/2011/layout/InterconnectedBlockProcess"/>
    <dgm:cxn modelId="{8EB2A31F-5ED8-4F1E-9888-E45B6D51A94B}" type="presOf" srcId="{448E8D00-13E2-4D4C-9160-363D49213308}" destId="{6BCCFBA6-7A43-4631-AD7F-AFB10E1E6CD7}" srcOrd="1" destOrd="1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9B856921-06F2-4CB2-9B57-EB5466403AED}" type="presOf" srcId="{727B6673-A90F-4980-8680-505BC91DDFD5}" destId="{0D08ED52-6744-4369-B780-916B09984775}" srcOrd="1" destOrd="3" presId="urn:microsoft.com/office/officeart/2011/layout/InterconnectedBlockProcess"/>
    <dgm:cxn modelId="{E3EBF622-DF53-4BF7-A72F-6090000373C9}" type="presOf" srcId="{098A2FD0-510B-4131-98A3-42963A819870}" destId="{98225A61-A0EC-450A-BED8-EF2E47E8FD18}" srcOrd="1" destOrd="0" presId="urn:microsoft.com/office/officeart/2011/layout/InterconnectedBlockProcess"/>
    <dgm:cxn modelId="{8674222C-B117-4DB2-8106-AAA37EE690C3}" type="presOf" srcId="{C3CDC600-31C0-4A3B-BEBF-636F2B969CA9}" destId="{1C91D7E3-8940-4A33-9182-677DD5415901}" srcOrd="1" destOrd="1" presId="urn:microsoft.com/office/officeart/2011/layout/InterconnectedBlockProcess"/>
    <dgm:cxn modelId="{E64C3E31-61C3-4139-AE5E-B36DFA56A054}" type="presOf" srcId="{EF703232-DF22-4058-B210-8EB04E0EA4AE}" destId="{8CAE5A4D-0C7B-48A6-917B-0B8433D0574B}" srcOrd="0" destOrd="0" presId="urn:microsoft.com/office/officeart/2011/layout/InterconnectedBlockProcess"/>
    <dgm:cxn modelId="{E1C4D237-75CB-4BDE-A550-4D5BA6AC2F9C}" type="presOf" srcId="{E57E669B-A046-4271-9CE6-F4221D58ACE7}" destId="{06F8D57B-EDF4-4CF4-8700-DC2CA3E3028E}" srcOrd="0" destOrd="2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4DBD655B-F047-48D7-8506-481D7DD9258E}" srcId="{7B3055AA-BF7C-46D0-9A9E-60087B9F57B4}" destId="{E57E669B-A046-4271-9CE6-F4221D58ACE7}" srcOrd="2" destOrd="0" parTransId="{215EF06D-D116-439C-B2BF-04ECFA62D7CB}" sibTransId="{D9250B28-1F0B-4534-91D8-61C38B89BE1C}"/>
    <dgm:cxn modelId="{3157E05E-1F92-48EC-8E73-BDC71DFD7304}" srcId="{65C051F6-A849-4495-A964-CD4C650B9C06}" destId="{26EB88E4-8C85-455A-8D78-23A24D6831AD}" srcOrd="1" destOrd="0" parTransId="{6D2F8805-4462-44BB-9684-F65749CCF680}" sibTransId="{CDFAE4C0-D95F-4B59-8572-86F6397837CC}"/>
    <dgm:cxn modelId="{B3F84B63-0259-4CF2-98FA-D9F85F7A13DA}" type="presOf" srcId="{121973F8-CA24-4F20-9BBF-1FBE6750B7C5}" destId="{A134CDD1-D85F-44EF-8BEE-9F99A855C1E6}" srcOrd="0" destOrd="3" presId="urn:microsoft.com/office/officeart/2011/layout/InterconnectedBlockProcess"/>
    <dgm:cxn modelId="{F88A3E44-1731-4496-ABA0-6E37256D8DFA}" type="presOf" srcId="{727B6673-A90F-4980-8680-505BC91DDFD5}" destId="{2532504F-5FE1-4C97-B485-F05E8885EACC}" srcOrd="0" destOrd="3" presId="urn:microsoft.com/office/officeart/2011/layout/InterconnectedBlockProcess"/>
    <dgm:cxn modelId="{7CD43348-5AAF-4293-B0D5-76B6B9C50F44}" type="presOf" srcId="{2C33B9D5-394D-4C1D-9616-7E7129D34827}" destId="{FC0F1314-3294-4A8C-8DCE-EB53E236164C}" srcOrd="0" destOrd="3" presId="urn:microsoft.com/office/officeart/2011/layout/InterconnectedBlockProcess"/>
    <dgm:cxn modelId="{05669B68-E6E9-4B95-A4B5-38A3B6B5BCCF}" type="presOf" srcId="{098A2FD0-510B-4131-98A3-42963A819870}" destId="{FC0F1314-3294-4A8C-8DCE-EB53E236164C}" srcOrd="0" destOrd="0" presId="urn:microsoft.com/office/officeart/2011/layout/InterconnectedBlockProcess"/>
    <dgm:cxn modelId="{70DD456E-E13A-4B51-B360-30F8E7777170}" type="presOf" srcId="{76A195F0-E9F4-45E0-8E93-0CE2DF4BB397}" destId="{98225A61-A0EC-450A-BED8-EF2E47E8FD18}" srcOrd="1" destOrd="2" presId="urn:microsoft.com/office/officeart/2011/layout/InterconnectedBlockProcess"/>
    <dgm:cxn modelId="{8E80336F-99DC-41A5-B9E5-86EC9F632BB8}" type="presOf" srcId="{43C9AE50-AE6E-4888-84C8-3F3ED099C038}" destId="{928B615F-0F8D-4140-A638-0FBB8F5BF1E9}" srcOrd="1" destOrd="3" presId="urn:microsoft.com/office/officeart/2011/layout/InterconnectedBlockProcess"/>
    <dgm:cxn modelId="{3B7F2050-4D09-4DA3-AD5A-E92406991D6E}" type="presOf" srcId="{76A195F0-E9F4-45E0-8E93-0CE2DF4BB397}" destId="{FC0F1314-3294-4A8C-8DCE-EB53E236164C}" srcOrd="0" destOrd="2" presId="urn:microsoft.com/office/officeart/2011/layout/InterconnectedBlockProcess"/>
    <dgm:cxn modelId="{88E35A50-BD63-414A-9580-D5D91432AF06}" srcId="{65C051F6-A849-4495-A964-CD4C650B9C06}" destId="{EF703232-DF22-4058-B210-8EB04E0EA4AE}" srcOrd="0" destOrd="0" parTransId="{3EC5FC1F-CA11-4FBC-A5B0-42CD274F7FD8}" sibTransId="{FBC3398E-8BFD-43D5-A1D4-3A5B6DDBF46D}"/>
    <dgm:cxn modelId="{AB085151-0C19-4354-9105-F5D7E477A973}" type="presOf" srcId="{03691115-5A9B-4FED-AC37-D6A830625B4B}" destId="{0D08ED52-6744-4369-B780-916B09984775}" srcOrd="1" destOrd="2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3821DE53-9E97-4432-81DA-64CFF0AA385E}" type="presOf" srcId="{03691115-5A9B-4FED-AC37-D6A830625B4B}" destId="{2532504F-5FE1-4C97-B485-F05E8885EACC}" srcOrd="0" destOrd="2" presId="urn:microsoft.com/office/officeart/2011/layout/InterconnectedBlockProcess"/>
    <dgm:cxn modelId="{5F650B74-C3B6-4BCA-B72A-615653EE1135}" type="presOf" srcId="{43C9AE50-AE6E-4888-84C8-3F3ED099C038}" destId="{8CAE5A4D-0C7B-48A6-917B-0B8433D0574B}" srcOrd="0" destOrd="3" presId="urn:microsoft.com/office/officeart/2011/layout/InterconnectedBlockProcess"/>
    <dgm:cxn modelId="{5766C174-12BD-4C01-8403-BB388F33BE1B}" type="presOf" srcId="{376353E3-0B9E-42F4-BBC0-4A1AEBDF6475}" destId="{98225A61-A0EC-450A-BED8-EF2E47E8FD18}" srcOrd="1" destOrd="1" presId="urn:microsoft.com/office/officeart/2011/layout/InterconnectedBlockProcess"/>
    <dgm:cxn modelId="{0C2AB456-4AE4-4969-AAD8-26AF85F92F0F}" srcId="{A59EC69B-8F3F-425B-819F-E8C557946AEE}" destId="{03691115-5A9B-4FED-AC37-D6A830625B4B}" srcOrd="2" destOrd="0" parTransId="{18C5B63B-4256-4082-8DB2-B2A5A8258CE6}" sibTransId="{87F221EB-475D-4053-B642-53411CB39900}"/>
    <dgm:cxn modelId="{482BFB58-BFA8-4B5C-844E-4A341C79503A}" srcId="{A59EC69B-8F3F-425B-819F-E8C557946AEE}" destId="{0FFBF5DA-6B24-4CE9-9707-5F8F75BFC572}" srcOrd="1" destOrd="0" parTransId="{7E6C6E3A-914E-4651-A9D7-38D079309CAC}" sibTransId="{BB7FE876-DB24-4900-8E3D-2C77E1903DCA}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F231DE84-E32E-4BC6-B4C2-D006E80C9B69}" srcId="{65C051F6-A849-4495-A964-CD4C650B9C06}" destId="{43C9AE50-AE6E-4888-84C8-3F3ED099C038}" srcOrd="3" destOrd="0" parTransId="{5D2F56EE-0276-4C85-AC90-717902E4A6B8}" sibTransId="{8B90C846-30FF-4368-A128-D48E2ADBA6DB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57D47B8C-C849-4BD4-B70E-53C3E773467B}" srcId="{65C051F6-A849-4495-A964-CD4C650B9C06}" destId="{260EC9D5-4705-42BE-8BF1-3B2F99DBF04D}" srcOrd="2" destOrd="0" parTransId="{8C64F3DF-BDE6-413A-8B58-F92E010AAC52}" sibTransId="{B32FB074-D956-4C7D-BEAF-7F4DC90B464C}"/>
    <dgm:cxn modelId="{3F0A9F8D-3DB2-4D2C-ACC1-78BB18DF0B57}" srcId="{5E92505A-51E0-4F78-B3C5-704ACF8710DE}" destId="{098A2FD0-510B-4131-98A3-42963A819870}" srcOrd="0" destOrd="0" parTransId="{3E6AFA10-FF01-407F-B89B-055A253BEE29}" sibTransId="{D9843168-EF5E-4D40-83AC-33257CD42E13}"/>
    <dgm:cxn modelId="{348AD48D-A44E-4F47-BAFC-B4BE42D78642}" srcId="{A59EC69B-8F3F-425B-819F-E8C557946AEE}" destId="{727B6673-A90F-4980-8680-505BC91DDFD5}" srcOrd="3" destOrd="0" parTransId="{7708DEA5-8290-4189-9EC0-C31176E597B0}" sibTransId="{00CE8FB4-D67E-43F7-9682-C75829E234D8}"/>
    <dgm:cxn modelId="{F9B46891-6698-4CB1-B89D-91FBAE98E801}" type="presOf" srcId="{26EB88E4-8C85-455A-8D78-23A24D6831AD}" destId="{8CAE5A4D-0C7B-48A6-917B-0B8433D0574B}" srcOrd="0" destOrd="1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6350FF95-3BA0-4625-A0EF-95D70F4F23CA}" type="presOf" srcId="{12128132-6A3B-4BE4-9E73-25849B29F6E3}" destId="{6BCCFBA6-7A43-4631-AD7F-AFB10E1E6CD7}" srcOrd="1" destOrd="3" presId="urn:microsoft.com/office/officeart/2011/layout/InterconnectedBlockProcess"/>
    <dgm:cxn modelId="{4164439A-5A43-4234-9DF9-B097BA0DF42C}" srcId="{988D96B0-D16E-4763-B393-84178CF4FF50}" destId="{8CFAADCD-CDA8-4564-A349-F3B08010D0F0}" srcOrd="2" destOrd="0" parTransId="{7ED90F3D-3BE1-490C-8227-D6588F2F4EE6}" sibTransId="{2FB21C5A-0B08-4357-93BC-520E654776F8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B437429C-CE7A-4230-816C-5815CF84E3AF}" type="presOf" srcId="{448E8D00-13E2-4D4C-9160-363D49213308}" destId="{06F8D57B-EDF4-4CF4-8700-DC2CA3E3028E}" srcOrd="0" destOrd="1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D931819F-8FC4-4AD3-BC2F-894E524D3453}" type="presOf" srcId="{E57E669B-A046-4271-9CE6-F4221D58ACE7}" destId="{6BCCFBA6-7A43-4631-AD7F-AFB10E1E6CD7}" srcOrd="1" destOrd="2" presId="urn:microsoft.com/office/officeart/2011/layout/InterconnectedBlockProcess"/>
    <dgm:cxn modelId="{34F59AA0-4038-4B21-A3D7-372A84C065AB}" type="presOf" srcId="{376353E3-0B9E-42F4-BBC0-4A1AEBDF6475}" destId="{FC0F1314-3294-4A8C-8DCE-EB53E236164C}" srcOrd="0" destOrd="1" presId="urn:microsoft.com/office/officeart/2011/layout/InterconnectedBlockProcess"/>
    <dgm:cxn modelId="{2F4983A4-94E7-497C-AD9B-123E2588592F}" type="presOf" srcId="{26EB88E4-8C85-455A-8D78-23A24D6831AD}" destId="{928B615F-0F8D-4140-A638-0FBB8F5BF1E9}" srcOrd="1" destOrd="1" presId="urn:microsoft.com/office/officeart/2011/layout/InterconnectedBlockProcess"/>
    <dgm:cxn modelId="{10B1E4AA-B61B-4A28-8A78-CF398B132BDE}" srcId="{988D96B0-D16E-4763-B393-84178CF4FF50}" destId="{121973F8-CA24-4F20-9BBF-1FBE6750B7C5}" srcOrd="3" destOrd="0" parTransId="{87F6F051-026A-44FC-B2C5-5CCBFA6F7156}" sibTransId="{B88A18B9-5446-4770-B14C-8BB53B1F5FDC}"/>
    <dgm:cxn modelId="{ABC7D3AD-5070-487E-A387-70E43E7755AA}" srcId="{988D96B0-D16E-4763-B393-84178CF4FF50}" destId="{C3CDC600-31C0-4A3B-BEBF-636F2B969CA9}" srcOrd="1" destOrd="0" parTransId="{8ABCF0DC-65A7-4C1D-B6F3-1DA40E44BF0F}" sibTransId="{90E809E0-7802-4D04-9B95-DA859B83D303}"/>
    <dgm:cxn modelId="{EDCAFFAE-543C-4C9B-B455-4443E36BDB3A}" type="presOf" srcId="{260EC9D5-4705-42BE-8BF1-3B2F99DBF04D}" destId="{8CAE5A4D-0C7B-48A6-917B-0B8433D0574B}" srcOrd="0" destOrd="2" presId="urn:microsoft.com/office/officeart/2011/layout/InterconnectedBlockProcess"/>
    <dgm:cxn modelId="{F47D81B4-60F3-43AD-BA8B-5982A1AE7715}" type="presOf" srcId="{8CFAADCD-CDA8-4564-A349-F3B08010D0F0}" destId="{1C91D7E3-8940-4A33-9182-677DD5415901}" srcOrd="1" destOrd="2" presId="urn:microsoft.com/office/officeart/2011/layout/InterconnectedBlockProcess"/>
    <dgm:cxn modelId="{A65ACFB6-0A29-45A0-AB0C-DAFFEA15EFC0}" srcId="{7B3055AA-BF7C-46D0-9A9E-60087B9F57B4}" destId="{448E8D00-13E2-4D4C-9160-363D49213308}" srcOrd="1" destOrd="0" parTransId="{557CABEF-CE32-4632-BBDB-FE5E8012E307}" sibTransId="{467E8194-8850-4A14-AB52-534985EEAB40}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83D786BC-339E-4CA5-839E-D2EC91E6FC61}" srcId="{5E92505A-51E0-4F78-B3C5-704ACF8710DE}" destId="{2C33B9D5-394D-4C1D-9616-7E7129D34827}" srcOrd="3" destOrd="0" parTransId="{B94AA8A1-1F33-4C18-9BC0-6BA5C8A37ACA}" sibTransId="{74FA82F1-FF6E-474E-9B37-A39E9BEFE9AF}"/>
    <dgm:cxn modelId="{3493CEC8-C691-43F3-8115-53AB272F0ABF}" srcId="{7B3055AA-BF7C-46D0-9A9E-60087B9F57B4}" destId="{12128132-6A3B-4BE4-9E73-25849B29F6E3}" srcOrd="3" destOrd="0" parTransId="{51D394C2-B640-4C3C-BF5B-81BEBD53FCD2}" sibTransId="{8E78E8D8-F829-45A6-9ED3-582F7F548EF9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317C01DE-D881-471B-B013-1C041EA0DD41}" type="presOf" srcId="{12128132-6A3B-4BE4-9E73-25849B29F6E3}" destId="{06F8D57B-EDF4-4CF4-8700-DC2CA3E3028E}" srcOrd="0" destOrd="3" presId="urn:microsoft.com/office/officeart/2011/layout/InterconnectedBlockProcess"/>
    <dgm:cxn modelId="{FD8DDEE0-DD27-40DC-AE1B-89BDBFC31418}" type="presOf" srcId="{8CFAADCD-CDA8-4564-A349-F3B08010D0F0}" destId="{A134CDD1-D85F-44EF-8BEE-9F99A855C1E6}" srcOrd="0" destOrd="2" presId="urn:microsoft.com/office/officeart/2011/layout/InterconnectedBlockProcess"/>
    <dgm:cxn modelId="{DFF60BE1-0837-4867-A660-22147C63EC4B}" type="presOf" srcId="{121973F8-CA24-4F20-9BBF-1FBE6750B7C5}" destId="{1C91D7E3-8940-4A33-9182-677DD5415901}" srcOrd="1" destOrd="3" presId="urn:microsoft.com/office/officeart/2011/layout/InterconnectedBlockProcess"/>
    <dgm:cxn modelId="{AF89A7E4-87F3-4ECE-AC04-BDB10E700E3D}" type="presOf" srcId="{C3CDC600-31C0-4A3B-BEBF-636F2B969CA9}" destId="{A134CDD1-D85F-44EF-8BEE-9F99A855C1E6}" srcOrd="0" destOrd="1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316C16EE-8141-4B2D-8F98-2FAE88F9EC05}" srcId="{5E92505A-51E0-4F78-B3C5-704ACF8710DE}" destId="{76A195F0-E9F4-45E0-8E93-0CE2DF4BB397}" srcOrd="2" destOrd="0" parTransId="{EC289755-2845-470A-8241-13EC14BDC01F}" sibTransId="{1A152D70-4717-47C9-B50B-F816351C3C22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FD0C7CF4-8F04-494A-8253-EA6250D84D69}" type="presOf" srcId="{0FFBF5DA-6B24-4CE9-9707-5F8F75BFC572}" destId="{0D08ED52-6744-4369-B780-916B09984775}" srcOrd="1" destOrd="1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810783FC-CF7D-4368-9000-C3178FE73677}" type="presOf" srcId="{260EC9D5-4705-42BE-8BF1-3B2F99DBF04D}" destId="{928B615F-0F8D-4140-A638-0FBB8F5BF1E9}" srcOrd="1" destOrd="2" presId="urn:microsoft.com/office/officeart/2011/layout/InterconnectedBlockProcess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8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Finalize Water Quality Prediction Management System.</a:t>
          </a:r>
          <a:endParaRPr lang="en-IN" sz="11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Demonstrate prediction results and system working.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Prepare final report and presentation.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Submit project and upload code to GitHub.</a:t>
          </a:r>
        </a:p>
      </dsp:txBody>
      <dsp:txXfrm>
        <a:off x="7335949" y="811638"/>
        <a:ext cx="1116055" cy="3246555"/>
      </dsp:txXfrm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8"/>
      </dsp:txXfrm>
    </dsp:sp>
    <dsp:sp modelId="{FC0F1314-3294-4A8C-8DCE-EB53E236164C}">
      <dsp:nvSpPr>
        <dsp:cNvPr id="0" name=""/>
        <dsp:cNvSpPr/>
      </dsp:nvSpPr>
      <dsp:spPr>
        <a:xfrm>
          <a:off x="5898557" y="811638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Test the prediction model with different datasets.</a:t>
          </a:r>
          <a:endParaRPr lang="en-IN" sz="11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Evaluate performance using accuracy, precision, recall.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Improve model performance through parameter tuning.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Prepare system screenshots and result analysis.</a:t>
          </a:r>
        </a:p>
      </dsp:txBody>
      <dsp:txXfrm>
        <a:off x="6060823" y="811638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8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r>
            <a:rPr lang="en-IN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Apply Machine Learning algorithms.</a:t>
          </a:r>
          <a:endParaRPr lang="en-US" sz="11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Train models using Python and Scikit-learn.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Implement data preprocessing and feature selection.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Generate initial prediction results and accuracy analysis.</a:t>
          </a:r>
        </a:p>
      </dsp:txBody>
      <dsp:txXfrm>
        <a:off x="4782502" y="811638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8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Collect water quality dataset.</a:t>
          </a:r>
          <a:endParaRPr lang="en-US" sz="11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Perform data preprocessing and analysis.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Design system architecture and modules.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Create DFD, Use Case Diagram, and System Workflow.</a:t>
          </a:r>
        </a:p>
      </dsp:txBody>
      <dsp:txXfrm>
        <a:off x="3504181" y="811638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8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Define the Water Quality Prediction Management System concept.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Study research papers related to water quality prediction using ML.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Identify parameters like pH, turbidity, temperature, conductivity.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Define objectives and scope of the project.</a:t>
          </a:r>
        </a:p>
      </dsp:txBody>
      <dsp:txXfrm>
        <a:off x="2225860" y="811638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12/04/2026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12-04-2026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12-04-2026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12-04-2026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12-04-2026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12-04-2026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12-04-2026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12-04-2026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12-04-2026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12-04-2026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12-04-2026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12-04-2026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/>
        </p:nvSpPr>
        <p:spPr>
          <a:xfrm>
            <a:off x="6525369" y="2109718"/>
            <a:ext cx="5514300" cy="20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Under the Supervision of,</a:t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Mr.Sakthi.S</a:t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Assistant Professor</a:t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Presidency School of CSE</a:t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Presidency University</a:t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156411" y="4130278"/>
            <a:ext cx="122499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Program: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B.Tech(Computer Science and Engineering)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HoD: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Dr. Asif Mohammed</a:t>
            </a:r>
            <a:endParaRPr b="1" i="0" sz="2000" u="none" cap="none" strike="noStrike">
              <a:solidFill>
                <a:schemeClr val="accen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Program Internship Coordinator: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Mr.Sakthi.S</a:t>
            </a:r>
            <a:endParaRPr b="1" i="0" sz="2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School Internship Coordinator: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Dr. Md Ziaur Rahman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													</a:t>
            </a:r>
            <a:endParaRPr b="1" i="0" sz="2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838200" y="130629"/>
            <a:ext cx="10515600" cy="1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b="1" i="0" lang="en-US" sz="28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CSE7302 - INTERNSHIP</a:t>
            </a:r>
            <a:b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4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Review-</a:t>
            </a:r>
            <a:r>
              <a:rPr b="1" lang="en-US" sz="24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1" i="0" lang="en-US" sz="24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 </a:t>
            </a:r>
            <a:br>
              <a:rPr b="1" i="0" lang="en-US" sz="24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4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Water Quality Prediction Management System</a:t>
            </a:r>
            <a:br>
              <a:rPr b="1" i="0" lang="en-US" sz="24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0" sz="2400" u="none" cap="none" strike="noStrike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3" name="Google Shape;103;p1"/>
          <p:cNvGraphicFramePr/>
          <p:nvPr/>
        </p:nvGraphicFramePr>
        <p:xfrm>
          <a:off x="601909" y="19118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{2E65921F-BAAD-4050-A625-E25B924060E2}</a:tableStyleId>
              </a:tblPr>
              <a:tblGrid>
                <a:gridCol w="1371275"/>
                <a:gridCol w="3950275"/>
              </a:tblGrid>
              <a:tr h="3622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Student Details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</a:tr>
              <a:tr h="36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b="1"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Name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  <a:defRPr sz="1400" u="none" cap="none" strike="noStrike"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Srikanth M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b="1"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Roll 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  <a:defRPr sz="1400" u="none" cap="none" strike="noStrike"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20231CSE3050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b="1"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Section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  <a:defRPr sz="1400" u="none" cap="none" strike="noStrike"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8CSE09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Emberquest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software company dedicated to developing, designing, and distributing various software applications.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company collaborates with clients to create tailored solutions and provides continuous support and maintenance.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 shape the future of learning by making it an accessible, flexible experience outside traditional classrooms.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Empowering businesses with creative, customer-focused, and reliable technology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EAA71-DED3-8260-8535-9F107408E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Company or Organization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01CD2-0129-5DD8-A5CB-E048367BD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Products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Solving problems through data-driven learning.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Algorithms for predictive analysis and pattern identification.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cross Behind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Ambabhavani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Temple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Attur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Layout Bengaluru-560097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F1771-696A-BE1E-C98D-20D6ED86C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5E890F-764E-3D40-CD28-80157217C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6705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502BD-AD23-B347-8743-93F5E7303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688E1-EC9F-961A-E6E0-21C4453F4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or Tableau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and Seaborn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and NumPy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E7E23-BDC9-9D87-30D5-EAC4E2D8B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2F3A8A-A0BB-B3BC-FBA2-756361B58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2271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10000"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CEO/Founder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Mr.Adarsh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Babu M, who guides the company’s vision and growth.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&amp; Reporting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 Manager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Mrs.Likitha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(Cybersecurity management).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Managers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:Ms.Ranjitha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(Cybersecurity) and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Ms.AnanyaM.U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(Employee Manager).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Leadership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of Tech Lead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Mr.Hemanth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(AI, ML, Cloud Computing, and Full Stack).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Lead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Mr.Gurukiran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(Project handling).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Securing the Internship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Navigating the competitive process of searching for and applying to a specialized software firm like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Emberquest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Interview Process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Cracking the interview, which likely focused on core domains like Python, Artificial Intelligence, or Cybersecurity.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Learning Curve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Transitioning from academic theory to professional application in complex fields such as Machine Learning or advanced Cybersecurity frameworks.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Onboarding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Understanding specific client needs and tailored solutions that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Emberquest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develops for its partners.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5308508"/>
          </a:xfrm>
        </p:spPr>
        <p:txBody>
          <a:bodyPr>
            <a:no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Empower Businesses with Innovation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 offer creative and customer-focused software solutions that assist businesses in reaching their specific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organisational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goals.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Data-Driven Solutions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Focus on building Artificial Intelligence solutions that solve complex problems and enable continuous data-driven learning.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Predictive Capabilities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Create advanced Machine Learning algorithms designed for identifying intricate patterns and performing predictive analyses.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Digital Security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Implement security measures and advanced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frameworks,using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Python, to safeguard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4A21B-4E2E-8C3F-F5F4-509932EEC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346" y="-166720"/>
            <a:ext cx="10541454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C6543-EE61-50B0-2257-108FBDF4E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27D9E8-ED90-CC4A-544A-05AA19667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9</a:t>
            </a:fld>
            <a:endParaRPr lang="en-IN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5A756265-01BA-9EAB-ED75-ADAE55AB08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1325212"/>
              </p:ext>
            </p:extLst>
          </p:nvPr>
        </p:nvGraphicFramePr>
        <p:xfrm>
          <a:off x="0" y="886408"/>
          <a:ext cx="12192000" cy="5971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921">
                  <a:extLst>
                    <a:ext uri="{9D8B030D-6E8A-4147-A177-3AD203B41FA5}">
                      <a16:colId xmlns:a16="http://schemas.microsoft.com/office/drawing/2014/main" val="1938513146"/>
                    </a:ext>
                  </a:extLst>
                </a:gridCol>
                <a:gridCol w="2389842">
                  <a:extLst>
                    <a:ext uri="{9D8B030D-6E8A-4147-A177-3AD203B41FA5}">
                      <a16:colId xmlns:a16="http://schemas.microsoft.com/office/drawing/2014/main" val="3575819506"/>
                    </a:ext>
                  </a:extLst>
                </a:gridCol>
                <a:gridCol w="1775046">
                  <a:extLst>
                    <a:ext uri="{9D8B030D-6E8A-4147-A177-3AD203B41FA5}">
                      <a16:colId xmlns:a16="http://schemas.microsoft.com/office/drawing/2014/main" val="1384191341"/>
                    </a:ext>
                  </a:extLst>
                </a:gridCol>
                <a:gridCol w="2063230">
                  <a:extLst>
                    <a:ext uri="{9D8B030D-6E8A-4147-A177-3AD203B41FA5}">
                      <a16:colId xmlns:a16="http://schemas.microsoft.com/office/drawing/2014/main" val="1671216169"/>
                    </a:ext>
                  </a:extLst>
                </a:gridCol>
                <a:gridCol w="1729654">
                  <a:extLst>
                    <a:ext uri="{9D8B030D-6E8A-4147-A177-3AD203B41FA5}">
                      <a16:colId xmlns:a16="http://schemas.microsoft.com/office/drawing/2014/main" val="1880201438"/>
                    </a:ext>
                  </a:extLst>
                </a:gridCol>
                <a:gridCol w="2100295">
                  <a:extLst>
                    <a:ext uri="{9D8B030D-6E8A-4147-A177-3AD203B41FA5}">
                      <a16:colId xmlns:a16="http://schemas.microsoft.com/office/drawing/2014/main" val="337842705"/>
                    </a:ext>
                  </a:extLst>
                </a:gridCol>
                <a:gridCol w="1359012">
                  <a:extLst>
                    <a:ext uri="{9D8B030D-6E8A-4147-A177-3AD203B41FA5}">
                      <a16:colId xmlns:a16="http://schemas.microsoft.com/office/drawing/2014/main" val="1349211074"/>
                    </a:ext>
                  </a:extLst>
                </a:gridCol>
              </a:tblGrid>
              <a:tr h="7207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aper </a:t>
                      </a:r>
                    </a:p>
                    <a:p>
                      <a:pPr>
                        <a:buNone/>
                      </a:pPr>
                      <a:r>
                        <a:rPr lang="en-IN" dirty="0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Algorithms / Techniques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Disadvantages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IEEE Domain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268195"/>
                  </a:ext>
                </a:extLst>
              </a:tr>
              <a:tr h="1647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Recent Trends in the Quality Module of Sustainable Water Management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Hybrid ML models (GBO-ENFIS), Machine Learning, Deep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Improved water quality prediction and stream-flow forecasting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Requires large datasets and complex model tuning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IEEE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8607275"/>
                  </a:ext>
                </a:extLst>
              </a:tr>
              <a:tr h="1956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Surface Water Monitoring Systems—The Importance of Integrating Information Sources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FIMS framework, Data fusion techniques, Systematic review of monitoring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Better anomaly detection and improved monitoring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Integration of multiple data sources is complex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Elsevier / Environmental Monitoring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2250019"/>
                  </a:ext>
                </a:extLst>
              </a:tr>
              <a:tr h="1647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Explainable AI for Water Quality Monitoring: A Systematic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XAI methods (SHAP, LIME), ML models (Random Forest, </a:t>
                      </a:r>
                      <a:r>
                        <a:rPr lang="en-US" dirty="0" err="1"/>
                        <a:t>XGBoost</a:t>
                      </a:r>
                      <a:r>
                        <a:rPr lang="en-US" dirty="0"/>
                        <a:t>, LSTM)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Improves transparency and trust in AI-based water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High computational cost and lack of standardized evaluation metrics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IEEE Sensors Review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362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4024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06509-A426-C887-6B4E-ABF458A03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E3C399-4013-94AA-D4A2-43A0391B0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10</a:t>
            </a:fld>
            <a:endParaRPr lang="en-IN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ACFEDD05-438A-33FB-789B-285196628F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3346081"/>
              </p:ext>
            </p:extLst>
          </p:nvPr>
        </p:nvGraphicFramePr>
        <p:xfrm>
          <a:off x="1" y="0"/>
          <a:ext cx="12192000" cy="5926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751">
                  <a:extLst>
                    <a:ext uri="{9D8B030D-6E8A-4147-A177-3AD203B41FA5}">
                      <a16:colId xmlns:a16="http://schemas.microsoft.com/office/drawing/2014/main" val="642090169"/>
                    </a:ext>
                  </a:extLst>
                </a:gridCol>
                <a:gridCol w="2675677">
                  <a:extLst>
                    <a:ext uri="{9D8B030D-6E8A-4147-A177-3AD203B41FA5}">
                      <a16:colId xmlns:a16="http://schemas.microsoft.com/office/drawing/2014/main" val="524356303"/>
                    </a:ext>
                  </a:extLst>
                </a:gridCol>
                <a:gridCol w="968037">
                  <a:extLst>
                    <a:ext uri="{9D8B030D-6E8A-4147-A177-3AD203B41FA5}">
                      <a16:colId xmlns:a16="http://schemas.microsoft.com/office/drawing/2014/main" val="1127562473"/>
                    </a:ext>
                  </a:extLst>
                </a:gridCol>
                <a:gridCol w="2249471">
                  <a:extLst>
                    <a:ext uri="{9D8B030D-6E8A-4147-A177-3AD203B41FA5}">
                      <a16:colId xmlns:a16="http://schemas.microsoft.com/office/drawing/2014/main" val="2366553892"/>
                    </a:ext>
                  </a:extLst>
                </a:gridCol>
                <a:gridCol w="2007634">
                  <a:extLst>
                    <a:ext uri="{9D8B030D-6E8A-4147-A177-3AD203B41FA5}">
                      <a16:colId xmlns:a16="http://schemas.microsoft.com/office/drawing/2014/main" val="238499292"/>
                    </a:ext>
                  </a:extLst>
                </a:gridCol>
                <a:gridCol w="1741715">
                  <a:extLst>
                    <a:ext uri="{9D8B030D-6E8A-4147-A177-3AD203B41FA5}">
                      <a16:colId xmlns:a16="http://schemas.microsoft.com/office/drawing/2014/main" val="1315246100"/>
                    </a:ext>
                  </a:extLst>
                </a:gridCol>
                <a:gridCol w="1741715">
                  <a:extLst>
                    <a:ext uri="{9D8B030D-6E8A-4147-A177-3AD203B41FA5}">
                      <a16:colId xmlns:a16="http://schemas.microsoft.com/office/drawing/2014/main" val="3225344508"/>
                    </a:ext>
                  </a:extLst>
                </a:gridCol>
              </a:tblGrid>
              <a:tr h="1554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paper </a:t>
                      </a:r>
                    </a:p>
                    <a:p>
                      <a:pPr>
                        <a:buNone/>
                      </a:pPr>
                      <a:r>
                        <a:rPr lang="en-IN" dirty="0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Algorithms / Techniques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IEEE Domain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426768"/>
                  </a:ext>
                </a:extLst>
              </a:tr>
              <a:tr h="1554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Advancing Water Quality Management: Ensemble ML and Real-Time 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Ensemble ML (Decision Tree, Random Forest, XGBoost) + Dash 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prediction accuracy (≈96.7%) and real-time decision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Requires continuous data updates and system maintenance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IEEE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2725161"/>
                  </a:ext>
                </a:extLst>
              </a:tr>
              <a:tr h="1554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 Hybrid Deep Learning Model for Water Quality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CEEMDAN-CNN-LSTM with Self-Attention mechanism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Captures spatial and temporal water quality features effectively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Complex training and high computational requirements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Springer / Environmental 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2557376"/>
                  </a:ext>
                </a:extLst>
              </a:tr>
              <a:tr h="1262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Data-Driven Solution for Water Resource Management of Intelligent Water Conservancy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STformer</a:t>
                      </a:r>
                      <a:r>
                        <a:rPr lang="en-IN" dirty="0"/>
                        <a:t> algorithm + IoT sensors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Low-cost large-scale monitoring with improved prediction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Dependence on sensor reliability and infrastructure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IEEE Internet of Things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0872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5819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7866B-6D53-3505-AB9B-D54570C87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542C4-D1A5-78D7-6CD0-FABAFF8CD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9987"/>
            <a:ext cx="10515600" cy="4351338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smart and automated solution designed to monitor,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predict water quality using modern technologies like IoT and Machine Learning.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of Proposed System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Data Collection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Centralised Database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and Notification System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13853-2CE9-EE76-8C3C-3B37C22D8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1E6BF8-0E66-FA9F-12D6-7D4DDFA3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93674"/>
            <a:ext cx="2743200" cy="365125"/>
          </a:xfrm>
        </p:spPr>
        <p:txBody>
          <a:bodyPr/>
          <a:lstStyle/>
          <a:p>
            <a:fld id="{F32F6845-8F47-4AB8-B9CE-96D88E741707}" type="slidenum">
              <a:rPr lang="en-IN" smtClean="0"/>
              <a:pPr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7036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pollution is increasing due to industrial waste, sewage, and chemicals.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water testing is manual and time-consuming.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monitoring system in many areas.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testing is expensive and not frequent.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predicting future water quality.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data management and record keeping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awareness and delayed decision-making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40D40-65A6-63BA-C7FA-6190ECDB7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D8A25-FAFC-7B07-3BB7-A8FF75F3C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43"/>
            <a:ext cx="10515600" cy="4732491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r>
              <a:rPr lang="en-IN" dirty="0"/>
              <a:t>Sensors (pH sensor, turbidity sensor, temperature sensor) </a:t>
            </a:r>
          </a:p>
          <a:p>
            <a:r>
              <a:rPr lang="en-IN" dirty="0"/>
              <a:t>Microcontroller (Arduino/Raspberry Pi) </a:t>
            </a:r>
          </a:p>
          <a:p>
            <a:r>
              <a:rPr lang="en-IN" dirty="0"/>
              <a:t>Computers 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algn="just"/>
            <a:r>
              <a:rPr lang="en-IN" dirty="0"/>
              <a:t>Operating System: Windows</a:t>
            </a:r>
          </a:p>
          <a:p>
            <a:pPr algn="just"/>
            <a:r>
              <a:rPr lang="en-IN" dirty="0"/>
              <a:t>Programming Language: Python</a:t>
            </a:r>
          </a:p>
          <a:p>
            <a:pPr algn="just"/>
            <a:r>
              <a:rPr lang="en-IN" dirty="0"/>
              <a:t>Database: MySQL</a:t>
            </a:r>
          </a:p>
          <a:p>
            <a:pPr algn="just"/>
            <a:r>
              <a:rPr lang="en-IN" dirty="0"/>
              <a:t>Tools: Pandas, NumPy (data processing)</a:t>
            </a:r>
          </a:p>
          <a:p>
            <a:pPr algn="just"/>
            <a:r>
              <a:rPr lang="en-IN" dirty="0"/>
              <a:t>Scikit-learn (ML model)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E8A82-30DF-84DC-D794-2506AF254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3C3EBC-25F7-3F9A-EB97-14E12CF0E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2850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77AEE-5495-ACD7-B89D-5EA01A320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54BE6-60F9-E0B5-0BBF-02B63B98F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Real-time Monitoring</a:t>
            </a:r>
          </a:p>
          <a:p>
            <a:pPr algn="just"/>
            <a:r>
              <a:rPr lang="en-IN" dirty="0"/>
              <a:t>Early Detection of Contamination</a:t>
            </a:r>
          </a:p>
          <a:p>
            <a:pPr algn="just"/>
            <a:r>
              <a:rPr lang="en-IN" dirty="0"/>
              <a:t>Accurate Prediction</a:t>
            </a:r>
          </a:p>
          <a:p>
            <a:pPr algn="just"/>
            <a:r>
              <a:rPr lang="en-IN" dirty="0"/>
              <a:t>Time-Saving</a:t>
            </a:r>
          </a:p>
          <a:p>
            <a:pPr algn="just"/>
            <a:r>
              <a:rPr lang="en-IN" dirty="0"/>
              <a:t>Cost-Effective</a:t>
            </a:r>
          </a:p>
          <a:p>
            <a:pPr algn="just"/>
            <a:r>
              <a:rPr lang="en-IN" dirty="0"/>
              <a:t>Data Storage &amp; Analysis</a:t>
            </a:r>
          </a:p>
          <a:p>
            <a:pPr algn="just"/>
            <a:r>
              <a:rPr lang="en-IN" dirty="0"/>
              <a:t>Improved Decision Making</a:t>
            </a:r>
          </a:p>
          <a:p>
            <a:pPr algn="just"/>
            <a:r>
              <a:rPr lang="en-IN" dirty="0"/>
              <a:t>Environmental Protection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4F6FB-560A-6821-F44B-D590A379D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9BCF20-AE06-DF04-AC8B-A8F98CF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9783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3C4B5-51F5-B1E7-47DA-F98BFF961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E7D39-C1CA-E273-F6D9-39D3618A7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748"/>
            <a:ext cx="10515600" cy="4351338"/>
          </a:xfrm>
        </p:spPr>
        <p:txBody>
          <a:bodyPr>
            <a:normAutofit fontScale="550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API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Server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&amp; Reports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BFD3F-8551-9CB7-A511-657AC0A3F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E68667-6DE2-135C-0C25-486E60E13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5083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8F976-D082-1D26-CF02-AA4DCA320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F3DDE-6A27-4B2D-64A6-3B9DDE824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D51D3C-D02D-C76C-A55E-0698F45E4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16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BE76E7-3F22-BAA5-2165-B8DCED85B685}"/>
              </a:ext>
            </a:extLst>
          </p:cNvPr>
          <p:cNvSpPr txBox="1"/>
          <p:nvPr/>
        </p:nvSpPr>
        <p:spPr>
          <a:xfrm>
            <a:off x="838200" y="1390261"/>
            <a:ext cx="9095819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</a:p>
          <a:p>
            <a:pPr algn="just"/>
            <a:endParaRPr lang="en-IN" sz="2800" b="1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Sensors: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 real-time data like pH, temperature, turbidity.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Data: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Historical water data from Central Pollution Control Board (CPCB).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Stations: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Environmental stations provide regular water quality readings.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Datasets: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Global datasets from World Health Organization (WHO) used for analysis.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5640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E3A49-1841-5E93-B8EC-92BC56C1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07116-F292-5CE6-6DC5-829EF8FE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F2B93-42BD-AD6E-ED9E-CF95F7FE8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3CD7DC-2A19-6FC5-5E19-991C4DCD8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17</a:t>
            </a:fld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097193-7265-D44F-AC17-04B4DE588B64}"/>
              </a:ext>
            </a:extLst>
          </p:cNvPr>
          <p:cNvSpPr txBox="1"/>
          <p:nvPr/>
        </p:nvSpPr>
        <p:spPr>
          <a:xfrm>
            <a:off x="838200" y="1690688"/>
            <a:ext cx="11160967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/>
              <a:t>Data Collection API</a:t>
            </a:r>
          </a:p>
          <a:p>
            <a:pPr algn="just"/>
            <a:endParaRPr lang="en-US" sz="2800" b="1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Integration: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Collects water quality data from sensors and external sources.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Transfer: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Sends data from IoT devices to the system.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collected data is accurate and complete.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Third-Party APIs: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integrate environmental data from organizations         like Central Pollution Control Board.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6327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DC69C-6318-04D7-232E-BAA6F1C62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1FB77-0269-3477-8A69-4165D7515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7347E-B85A-3F9A-5E1D-DB46D850E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FBEEE6-0BBB-7F72-C664-2A93C7C56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18</a:t>
            </a:fld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C69A3E-18F0-EE93-3CF3-8B2919EC2D6E}"/>
              </a:ext>
            </a:extLst>
          </p:cNvPr>
          <p:cNvSpPr txBox="1"/>
          <p:nvPr/>
        </p:nvSpPr>
        <p:spPr>
          <a:xfrm>
            <a:off x="755780" y="1520890"/>
            <a:ext cx="9358305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 algn="just"/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water quality parameters like pH, turbidity, temperature.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Data: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Maintains past records for analysis and prediction.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Management: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Organizes data for easy retrieval.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Storage: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data safety and reliability</a:t>
            </a:r>
            <a:r>
              <a:rPr lang="en-IN" dirty="0"/>
              <a:t>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1868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A3FB2-6BE7-B7C6-3794-DC5DCDFEC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8A884-0143-A366-7B65-900AFE25D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05675-F28D-393B-DC92-D11FF6250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DF238D-4886-C6EB-A5EF-5095B5752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19</a:t>
            </a:fld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771184-979D-A238-0D56-7E0D0B246ECA}"/>
              </a:ext>
            </a:extLst>
          </p:cNvPr>
          <p:cNvSpPr txBox="1"/>
          <p:nvPr/>
        </p:nvSpPr>
        <p:spPr>
          <a:xfrm>
            <a:off x="838200" y="1243836"/>
            <a:ext cx="10783529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</a:t>
            </a:r>
          </a:p>
          <a:p>
            <a:pPr algn="just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a linear relationship between input variables and output value.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multiple decision trees and combines their results.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 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the best boundary (hyperplane) to separate data.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Neural Network (ANN) 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layers of neurons to learn complex patterns.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(KNN) 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based on the closest data points.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8759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5E11E-0151-EA83-AD09-06FFA8FEA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E739A-5D7C-D198-FE02-F68C04E2E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or datasets collect parameters like pH, turbidity, temperature, and dissolved oxygen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data, handling missing values, and normalization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algorithms (Decision Tree, Random Forest, SVM) to predict water quality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real-time and historical water quality data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Integration - Combine all modules: Sensors → Database → ML Model → Dashboard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160EF-4BF6-B508-B6BA-00C7C435C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B529F-9D35-A9F7-F96E-18A16F7EA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41580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313A0-1273-F0C7-EAF1-1F34230A5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E51A6-D8A2-A0C7-6FA7-672F7357A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Testing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whether all features work correctly.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Testing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system works efficiently under load.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Testing - Validates prediction model performance.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Testing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data and system are protected.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 Testing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if system is user-friendly.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Testing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all modules work together.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 Testing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system works continuously without failure.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Testing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new updates don’t break existing features.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26C48-314E-BBDD-69C2-885C0D130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857608-8C9D-4A87-256A-AEBAF2992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9575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40BAC-85E3-ADFE-9551-31B36C1D9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79E3F-D461-EB01-6FEB-686258E8D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Quality Prediction Management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effectively integrates sensor data, machine learning models, and a user‑friendly interface to predict and monitor water quality in real time.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enables early detection of contamination, supports timely decision‑making for authorities, and helps safeguard public health and aquatic ecosystems.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automating data analysis and classification, the system improves accuracy, reduces manual effort, and can be extended to large‑scale water networks and smart‑city applications in the future.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DA9AC-2849-3670-0A4D-27866015E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0C3D9-D6C7-2EB9-7A8D-1C700A30D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78629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4F086-79D2-CFA1-9D20-DDE98ABEE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7EBA2-FC31-6663-789D-235ED0278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Subashini, C., “Recent Trends in the Quality Module of Sustainable Water Management Models,”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13, pp. 1–15, 2025. DOI: 10.1109/ACCESS.2025.10965687.</a:t>
            </a:r>
          </a:p>
          <a:p>
            <a:pPr algn="just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Sudriani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 et al., “Surface Water Monitoring Systems—The Importance of Integrating Information Sources for Sustainable Water Management,”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11, pp. 63456–63472, 2023. DOI: 10.1109/ACCESS.2023.10089410.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54FE7-E4FF-907A-269A-5A564FEFE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7AED0B-0D63-7ACC-D4BA-DAC4EAF3D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43559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3128237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/>
              <a:t> https://github.com/Srikanth1509</a:t>
            </a:r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26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